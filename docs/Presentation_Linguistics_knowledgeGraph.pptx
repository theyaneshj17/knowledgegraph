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69" r:id="rId2"/>
    <p:sldId id="259" r:id="rId3"/>
    <p:sldId id="260" r:id="rId4"/>
    <p:sldId id="261" r:id="rId5"/>
    <p:sldId id="262" r:id="rId6"/>
    <p:sldId id="263" r:id="rId7"/>
    <p:sldId id="265" r:id="rId8"/>
    <p:sldId id="268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84431-9E11-4C67-8283-F62E0144BE2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F1797-099C-4E47-A1C2-43333A29DD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4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F1797-099C-4E47-A1C2-43333A29DD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81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AB05-6560-08A1-6127-B5CD57BB8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1D860-FCB3-1B80-622B-B4BF79783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15FEA-594B-C176-DAE8-349AFFE12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C00F5-5517-4096-ABCF-5E4B285E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46EE3-C858-F832-7213-95220FA7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4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06360-5842-9C84-5EB4-FD54708E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F5C45-49BE-8972-3EB4-52F68621D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8D9E-A7BD-4218-B811-4DFAEECE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4E3C4-F509-FDDC-97B6-D8601107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3E2CE-9293-F13C-7AC0-01ACD443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61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3DB68-AD45-E9A0-E5F1-8ECA424E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294F2-0A76-7FE0-B502-9A32F3894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E7708-56E6-F2EF-92B0-3EF42B0B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4B83-A1E1-69F7-BD8C-196789F7F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DFCFA-3584-7622-D028-3207B7F5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4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4CE56-B82C-22A1-8F53-A7EAD98E4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21C8D-B300-A28E-F43E-016FABFBA0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D2AB4-CF7E-C2F0-AF12-865678DDB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6D559-1939-9472-8395-9A090F54E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B092B-C356-7E9A-2CA6-F837F02E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A060E-79C6-038D-4375-3EAA814C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6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2073-64E1-ABA1-3938-4D925DC40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2EA31-5161-6DE1-4AB8-B1E9B6C01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4E7DB-7B8B-B246-F587-E39AB543F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45E6B-D786-44D7-9FBD-D3CCC514F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1CB2B-41F2-BB4F-76DB-9485CD3CD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B870FD-C550-7075-4712-B6551B9AF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0AAD7-4A32-E9C1-BF7E-57200A13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D13174-B3A1-E9EC-B58B-B7BA1C14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05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8B10-5AA3-032B-56A2-D9D9736C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BD964-3468-49E6-B359-F9876ECD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B6759-B3FD-16C4-1C8F-02796F97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35519-44A6-2673-5742-234E14AA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2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AF2D9-A569-2639-3B6D-D33873D8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3DFA9-E481-0B75-35FC-A6E227BC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74AB7-623F-E40D-9B9D-04B1E202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5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33F63-BA61-76A2-6123-5A057204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0C8B-1964-CAA5-9F0D-B94E097A4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C0EEB-6186-AF94-A31E-0BC84FA4C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676406-419B-99F5-A659-569BE4080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C92FA-CB55-0687-AD4B-00FF6BBFA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B8DDA-C262-9940-23E6-3FF6F013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88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B9A8-8AFD-2203-1869-FA65D26D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98D4B-ECD2-5069-DA46-3ADFFB08B3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81EBE-FCE6-FE37-CB85-6A9168D76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635F3-CD1F-7FDD-2800-6536929F7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080B9-1792-DB05-B294-CF3EECBF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B68AA-0FEE-A0AF-0177-CAF79A3F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4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E782-DC02-05B1-5D9A-6CF34FA7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FBA5E-920E-12C8-873D-06E1DE1CF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1CCAB-BD11-55FD-8679-FCE59106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C449-0498-CA49-21B0-A92A4C1D1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E6881-62B5-EF64-F227-3482617C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9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7F9DE-38AB-8002-0F5E-C86B4D7B7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070BF-AD71-2760-CDA1-6E8C2A6CC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C68A0-682E-1616-FF51-34560BD5F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B9E2E-7988-E709-BFBA-5C63DC7AA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E42B5-25AC-BC36-27D5-DD382610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9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4310B-1558-6869-8794-7A4A697FF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6E351-7DA0-DF2F-C14D-DF1CB47B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F3ED7-C739-D0E5-B215-555448099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4CF72-976C-4571-AC7F-CFCE88D028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37C0D-2DF5-C2E1-5AEA-C608D00AC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7422C-F204-672D-0D96-8C57DE6AC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087DE-4AD1-462F-BAD7-05E7D877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82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D3F3-AFFD-C5EC-4A2F-5063773A3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248" y="509715"/>
            <a:ext cx="9144000" cy="23876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Improving LLM Reasoning Through Ontology-driven Knowledge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DDBC7-BD1D-474D-3C20-A9ACD4E54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976" y="3132805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Theyaneshwaran Jayaprakash</a:t>
            </a:r>
          </a:p>
        </p:txBody>
      </p:sp>
    </p:spTree>
    <p:extLst>
      <p:ext uri="{BB962C8B-B14F-4D97-AF65-F5344CB8AC3E}">
        <p14:creationId xmlns:p14="http://schemas.microsoft.com/office/powerpoint/2010/main" val="10110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8735ECC-0DBB-59FA-AF1D-0D76DBF7A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0" y="823447"/>
            <a:ext cx="12027518" cy="57597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F2AD3D-26C7-017B-980C-B21788B947A8}"/>
              </a:ext>
            </a:extLst>
          </p:cNvPr>
          <p:cNvSpPr txBox="1"/>
          <p:nvPr/>
        </p:nvSpPr>
        <p:spPr>
          <a:xfrm>
            <a:off x="82240" y="274807"/>
            <a:ext cx="1011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an End-to-End Pipeline for Interpretable, Evidence-Based Reasoning from Triples to Answers</a:t>
            </a:r>
          </a:p>
        </p:txBody>
      </p:sp>
    </p:spTree>
    <p:extLst>
      <p:ext uri="{BB962C8B-B14F-4D97-AF65-F5344CB8AC3E}">
        <p14:creationId xmlns:p14="http://schemas.microsoft.com/office/powerpoint/2010/main" val="2217384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0B16E6-75F5-4DDB-D72E-F9D3EBFD4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48" y="642280"/>
            <a:ext cx="11875110" cy="2786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15D4C2-CB1A-9C89-9227-FF446EAAA2FA}"/>
              </a:ext>
            </a:extLst>
          </p:cNvPr>
          <p:cNvSpPr txBox="1"/>
          <p:nvPr/>
        </p:nvSpPr>
        <p:spPr>
          <a:xfrm>
            <a:off x="230886" y="115747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is this answer being generated?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7AF66-963B-841D-9F30-D543521AA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36" y="3836074"/>
            <a:ext cx="10827306" cy="278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6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B8A820-B239-249C-8221-B696545FA4E5}"/>
              </a:ext>
            </a:extLst>
          </p:cNvPr>
          <p:cNvSpPr txBox="1"/>
          <p:nvPr/>
        </p:nvSpPr>
        <p:spPr>
          <a:xfrm>
            <a:off x="154359" y="434787"/>
            <a:ext cx="554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Triple Construction (Two Pass Extraction Strategy)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9A302D-519C-78EF-AAA9-61D39275E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607" y="2692539"/>
            <a:ext cx="5236193" cy="2933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4BC72F-3694-12B7-DF50-77FA17A81C06}"/>
              </a:ext>
            </a:extLst>
          </p:cNvPr>
          <p:cNvSpPr txBox="1"/>
          <p:nvPr/>
        </p:nvSpPr>
        <p:spPr>
          <a:xfrm>
            <a:off x="154359" y="52272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two-pass method recovers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79% more triples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relationships missed in the first pass.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DAB28-6E6B-9B2E-0A81-DF6A5A923831}"/>
              </a:ext>
            </a:extLst>
          </p:cNvPr>
          <p:cNvSpPr txBox="1"/>
          <p:nvPr/>
        </p:nvSpPr>
        <p:spPr>
          <a:xfrm>
            <a:off x="154359" y="984379"/>
            <a:ext cx="64559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it?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two-step process to extract subject–predicate–object triples from biomedical abstracts: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Primary Extraction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all entities and direct relationships using domain-specific rules.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Verification &amp; Recovery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Re-analyzes the text with knowledge of entities and previously found triples to uncover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long-distance relationships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16C33AB-AB01-961D-E948-0286A30D0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8607" y="619453"/>
            <a:ext cx="5371677" cy="160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4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7686DB-A178-22D5-09D5-C47EB4B131F7}"/>
              </a:ext>
            </a:extLst>
          </p:cNvPr>
          <p:cNvSpPr txBox="1"/>
          <p:nvPr/>
        </p:nvSpPr>
        <p:spPr>
          <a:xfrm>
            <a:off x="185166" y="272534"/>
            <a:ext cx="7203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Entity Standardization (Rule Based) &amp; Knowledge Graph Construction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1155F-92F3-795D-DB1F-791AD29B3D5E}"/>
              </a:ext>
            </a:extLst>
          </p:cNvPr>
          <p:cNvSpPr txBox="1"/>
          <p:nvPr/>
        </p:nvSpPr>
        <p:spPr>
          <a:xfrm>
            <a:off x="185166" y="798869"/>
            <a:ext cx="57584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entity is normalized  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(Lowercasing, Lemmatization,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removal)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Canonical name selection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Deduplication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6ACE9C-8DD5-A310-F4B8-8C1D44026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34" y="2729062"/>
            <a:ext cx="6549462" cy="4019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9BEA68-62A9-9F47-EBB0-2F315FBAE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719" y="641866"/>
            <a:ext cx="2582824" cy="903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AB4728-88FD-0224-C542-22AFFDCA9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719" y="1749293"/>
            <a:ext cx="2582824" cy="19953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F0EDFA-0105-B60C-41DB-3877BFD67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719" y="4193678"/>
            <a:ext cx="2495678" cy="171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6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8632BF-69D4-B9AB-683F-AB0D1E9339D3}"/>
              </a:ext>
            </a:extLst>
          </p:cNvPr>
          <p:cNvSpPr txBox="1"/>
          <p:nvPr/>
        </p:nvSpPr>
        <p:spPr>
          <a:xfrm>
            <a:off x="358902" y="28033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Graph Retrieval and Fine-Tuning, Optimization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F06167-648D-5FDD-C4F3-038051764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440630"/>
              </p:ext>
            </p:extLst>
          </p:nvPr>
        </p:nvGraphicFramePr>
        <p:xfrm>
          <a:off x="212344" y="900958"/>
          <a:ext cx="6874255" cy="3834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7702">
                  <a:extLst>
                    <a:ext uri="{9D8B030D-6E8A-4147-A177-3AD203B41FA5}">
                      <a16:colId xmlns:a16="http://schemas.microsoft.com/office/drawing/2014/main" val="990439926"/>
                    </a:ext>
                  </a:extLst>
                </a:gridCol>
                <a:gridCol w="6046553">
                  <a:extLst>
                    <a:ext uri="{9D8B030D-6E8A-4147-A177-3AD203B41FA5}">
                      <a16:colId xmlns:a16="http://schemas.microsoft.com/office/drawing/2014/main" val="1306635957"/>
                    </a:ext>
                  </a:extLst>
                </a:gridCol>
              </a:tblGrid>
              <a:tr h="5333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Happens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40875411"/>
                  </a:ext>
                </a:extLst>
              </a:tr>
              <a:tr h="106667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Embed all entity names using all-roberta-large-v1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Build and store FAISS index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entity_index.faiss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entity_names.pkl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Create full-text index on Neo4j entity names for fast retrieval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97029999"/>
                  </a:ext>
                </a:extLst>
              </a:tr>
              <a:tr h="2234312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 entities using Claude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Query Neo4j for direct matches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missing, expand via FAISS similarity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Retrieve related triples from Neo4j</a:t>
                      </a:r>
                    </a:p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 triples by question similarity using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SentenceTransformer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5679418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25DDDF8-E137-D211-886F-A169F71C8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523" y="832104"/>
            <a:ext cx="5517302" cy="11795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216DA0-3C41-7145-47EA-7CA89B1A8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556" y="2377920"/>
            <a:ext cx="5502269" cy="434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32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6F5D87-FE1C-E5F6-9F8F-EC815BACF34B}"/>
              </a:ext>
            </a:extLst>
          </p:cNvPr>
          <p:cNvSpPr txBox="1"/>
          <p:nvPr/>
        </p:nvSpPr>
        <p:spPr>
          <a:xfrm>
            <a:off x="222613" y="46515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Graph Retrieval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86C4F-C088-4F81-8E7F-81130FA57038}"/>
              </a:ext>
            </a:extLst>
          </p:cNvPr>
          <p:cNvSpPr txBox="1"/>
          <p:nvPr/>
        </p:nvSpPr>
        <p:spPr>
          <a:xfrm>
            <a:off x="222613" y="653760"/>
            <a:ext cx="7484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question, retrieved top relevant triples from Neo4j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Hop).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EB974C-B963-8EC8-02EF-C15CEA3CF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32" y="3981904"/>
            <a:ext cx="4153444" cy="27493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02EE27F-0D36-5FE7-864D-5017425F8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876" y="3833480"/>
            <a:ext cx="4254409" cy="28439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104E09-E989-6682-5363-E1BAA668B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514" y="3857915"/>
            <a:ext cx="3321221" cy="28195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11E2E2-89DA-9B51-A8AE-21F812F3F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621" y="424792"/>
            <a:ext cx="3729448" cy="5919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DA76860-747D-7705-6A45-45EAFD204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94" y="1484757"/>
            <a:ext cx="8077886" cy="24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7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4034-1AAD-801F-3524-709AC2D4B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C9F2E4-C765-9402-B321-2348CF1B6FE4}"/>
              </a:ext>
            </a:extLst>
          </p:cNvPr>
          <p:cNvSpPr txBox="1"/>
          <p:nvPr/>
        </p:nvSpPr>
        <p:spPr>
          <a:xfrm>
            <a:off x="222613" y="46515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Graph Retrieval Evaluation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E6C22-E556-1F82-23E3-A181643EF51D}"/>
              </a:ext>
            </a:extLst>
          </p:cNvPr>
          <p:cNvSpPr txBox="1"/>
          <p:nvPr/>
        </p:nvSpPr>
        <p:spPr>
          <a:xfrm>
            <a:off x="222613" y="986301"/>
            <a:ext cx="74844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ground truth answers using Claude, constrained to each chunk’s content</a:t>
            </a:r>
          </a:p>
          <a:p>
            <a:pPr marL="342900" indent="-342900"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generated answers with retrieved top 10 triplets to reference answers using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E6C53F-64B4-E014-AFAC-D86FD153D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41" y="3124457"/>
            <a:ext cx="4907384" cy="3004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FD21B7-7C7A-FD81-F862-2CEBCCDA1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790" y="815263"/>
            <a:ext cx="4126498" cy="16655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D17D9D-B47A-A0CB-4C49-462EEAF5D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1" y="2613366"/>
            <a:ext cx="6352358" cy="351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2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1A88DB-A48E-F6C8-F7D9-399382A22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19" y="8263284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B12CD4-D6A0-C76D-C140-5C51106E8094}"/>
              </a:ext>
            </a:extLst>
          </p:cNvPr>
          <p:cNvSpPr txBox="1"/>
          <p:nvPr/>
        </p:nvSpPr>
        <p:spPr>
          <a:xfrm>
            <a:off x="348343" y="318254"/>
            <a:ext cx="6270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Failure Analysis Summary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0C87C0-03BF-E19D-1C8A-D94FCE4DC2C7}"/>
              </a:ext>
            </a:extLst>
          </p:cNvPr>
          <p:cNvSpPr txBox="1"/>
          <p:nvPr/>
        </p:nvSpPr>
        <p:spPr>
          <a:xfrm>
            <a:off x="357540" y="1069848"/>
            <a:ext cx="738742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Failures: 120 (out of 2,647 QA runs)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Rate: 95.5%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Failure Causes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Entity Extraction Failed: Claude could not identify valid entities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No Triples Found: Neo4j returned no results for the 	extracted/expanded entities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Unexpected Errors: Format issues (e.g., trying to unpack missing triples)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failed questions were vague or underspecified,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main focus of the study?” or “What is the objective of the research?”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00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D8FA63-D3C5-B328-EA51-4E1D1CEA4E39}"/>
              </a:ext>
            </a:extLst>
          </p:cNvPr>
          <p:cNvSpPr txBox="1"/>
          <p:nvPr/>
        </p:nvSpPr>
        <p:spPr>
          <a:xfrm>
            <a:off x="342138" y="36018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Next Steps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C7901-E4FB-71C3-432A-397A80D08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977514"/>
            <a:ext cx="6493580" cy="4080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886F3A-199C-4A35-F541-5645F2661751}"/>
              </a:ext>
            </a:extLst>
          </p:cNvPr>
          <p:cNvSpPr txBox="1"/>
          <p:nvPr/>
        </p:nvSpPr>
        <p:spPr>
          <a:xfrm>
            <a:off x="484632" y="876484"/>
            <a:ext cx="450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Entity linking and Better Normalization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5B3A3-3F9C-5F3E-EA8B-C9FDEF4C2FB2}"/>
              </a:ext>
            </a:extLst>
          </p:cNvPr>
          <p:cNvSpPr txBox="1"/>
          <p:nvPr/>
        </p:nvSpPr>
        <p:spPr>
          <a:xfrm>
            <a:off x="484632" y="1743599"/>
            <a:ext cx="4507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Current Graph Retrieval pulls only 1 hop.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F944D0-A61D-4DE1-2146-FAFAB0376D54}"/>
              </a:ext>
            </a:extLst>
          </p:cNvPr>
          <p:cNvSpPr txBox="1"/>
          <p:nvPr/>
        </p:nvSpPr>
        <p:spPr>
          <a:xfrm>
            <a:off x="533400" y="3496349"/>
            <a:ext cx="44104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path =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s:Entity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)-[*1..2]-(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o:Entity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(s.name) CONTAINS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($name) OR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(o.name) CONTAINS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($name)</a:t>
            </a: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path LIMIT 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A018E-31A8-E20B-3D5A-44CB7C509F41}"/>
              </a:ext>
            </a:extLst>
          </p:cNvPr>
          <p:cNvSpPr txBox="1"/>
          <p:nvPr/>
        </p:nvSpPr>
        <p:spPr>
          <a:xfrm>
            <a:off x="640080" y="2371188"/>
            <a:ext cx="4352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validate multi hop path reasoning questions and answers (try to pull subgraphs)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716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464</Words>
  <Application>Microsoft Office PowerPoint</Application>
  <PresentationFormat>Widescreen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Improving LLM Reasoning Through Ontology-driven Knowledge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Theyanesh... Jp</dc:creator>
  <cp:lastModifiedBy>Theyanesh... Jp</cp:lastModifiedBy>
  <cp:revision>2</cp:revision>
  <dcterms:created xsi:type="dcterms:W3CDTF">2025-05-01T05:21:34Z</dcterms:created>
  <dcterms:modified xsi:type="dcterms:W3CDTF">2026-01-21T14:16:04Z</dcterms:modified>
</cp:coreProperties>
</file>